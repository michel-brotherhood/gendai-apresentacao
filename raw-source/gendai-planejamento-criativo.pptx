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x="18288000" cy="10287000"/>
  <p:notesSz cx="6858000" cy="9144000"/>
  <p:embeddedFontLst>
    <p:embeddedFont>
      <p:font typeface="Mukti" charset="1" panose="00000000000000000000"/>
      <p:regular r:id="rId20"/>
    </p:embeddedFont>
    <p:embeddedFont>
      <p:font typeface="Arial Nova Light" charset="1" panose="020B0304020202020204"/>
      <p:regular r:id="rId21"/>
    </p:embeddedFont>
    <p:embeddedFont>
      <p:font typeface="Arial Nova Bold" charset="1" panose="020B0804020202020204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Relationship Id="rId3" Target="../media/image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jpeg" Type="http://schemas.openxmlformats.org/officeDocument/2006/relationships/image"/><Relationship Id="rId3" Target="../media/VAHWLav4zFk.mp4" Type="http://schemas.openxmlformats.org/officeDocument/2006/relationships/video"/><Relationship Id="rId4" Target="../media/VAHWLav4zFk.mp4" Type="http://schemas.microsoft.com/office/2007/relationships/media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9248775" y="9244012"/>
            <a:ext cx="9912558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1</a:t>
              </a: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2330366" y="139810"/>
            <a:ext cx="4928934" cy="3700492"/>
          </a:xfrm>
          <a:custGeom>
            <a:avLst/>
            <a:gdLst/>
            <a:ahLst/>
            <a:cxnLst/>
            <a:rect r="r" b="b" t="t" l="l"/>
            <a:pathLst>
              <a:path h="3700492" w="4928934">
                <a:moveTo>
                  <a:pt x="0" y="0"/>
                </a:moveTo>
                <a:lnTo>
                  <a:pt x="4928934" y="0"/>
                </a:lnTo>
                <a:lnTo>
                  <a:pt x="4928934" y="3700492"/>
                </a:lnTo>
                <a:lnTo>
                  <a:pt x="0" y="370049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-28575" y="0"/>
            <a:ext cx="9258300" cy="11572875"/>
          </a:xfrm>
          <a:custGeom>
            <a:avLst/>
            <a:gdLst/>
            <a:ahLst/>
            <a:cxnLst/>
            <a:rect r="r" b="b" t="t" l="l"/>
            <a:pathLst>
              <a:path h="11572875" w="9258300">
                <a:moveTo>
                  <a:pt x="0" y="0"/>
                </a:moveTo>
                <a:lnTo>
                  <a:pt x="9258300" y="0"/>
                </a:lnTo>
                <a:lnTo>
                  <a:pt x="9258300" y="11572875"/>
                </a:lnTo>
                <a:lnTo>
                  <a:pt x="0" y="1157287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326352" y="9596713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SETEMBRO/26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499355" y="9596713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APRESENTADO POR: V4 COMPANY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597760" y="7137988"/>
            <a:ext cx="4661540" cy="9982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960"/>
              </a:lnSpc>
            </a:pPr>
            <a:r>
              <a:rPr lang="en-US" sz="3600" spc="-197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Estratégia de </a:t>
            </a:r>
          </a:p>
          <a:p>
            <a:pPr algn="r">
              <a:lnSpc>
                <a:spcPts val="3960"/>
              </a:lnSpc>
            </a:pPr>
            <a:r>
              <a:rPr lang="en-US" sz="3600" spc="-197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conteúdo digital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V="true">
            <a:off x="7791274" y="9253537"/>
            <a:ext cx="11109718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7949444" y="1028700"/>
            <a:ext cx="10951548" cy="4763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2</a:t>
              </a: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0" y="1055961"/>
            <a:ext cx="8166756" cy="8202339"/>
          </a:xfrm>
          <a:custGeom>
            <a:avLst/>
            <a:gdLst/>
            <a:ahLst/>
            <a:cxnLst/>
            <a:rect r="r" b="b" t="t" l="l"/>
            <a:pathLst>
              <a:path h="8202339" w="8166756">
                <a:moveTo>
                  <a:pt x="0" y="0"/>
                </a:moveTo>
                <a:lnTo>
                  <a:pt x="8166756" y="0"/>
                </a:lnTo>
                <a:lnTo>
                  <a:pt x="8166756" y="8202339"/>
                </a:lnTo>
                <a:lnTo>
                  <a:pt x="0" y="82023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5593" r="-1819" b="-11128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443144" y="1968969"/>
            <a:ext cx="6816156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6080"/>
              </a:lnSpc>
            </a:pPr>
            <a:r>
              <a:rPr lang="en-US" sz="8000" spc="-176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AGENDA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6352" y="9596713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SETEMBRO/26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498084" y="3330410"/>
            <a:ext cx="3759945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DEBRIEFING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98402" y="3991583"/>
            <a:ext cx="3759945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REDES SOCIAIS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98719" y="4652756"/>
            <a:ext cx="3759945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NOSSO PÚBLICO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499037" y="5313929"/>
            <a:ext cx="3759945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NUVEM DE PALAVRAS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177213" y="5975102"/>
            <a:ext cx="4082087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NOSSOS CONCORRENTES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97131" y="6636275"/>
            <a:ext cx="3759945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NOSSAS INSPIRAÇÕES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497449" y="7297448"/>
            <a:ext cx="3759945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EDITORIAL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3497766" y="7958621"/>
            <a:ext cx="3759945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LAYOUT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13091" y="3330410"/>
            <a:ext cx="588515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3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613091" y="3991583"/>
            <a:ext cx="956677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4, 5, 6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613091" y="4652756"/>
            <a:ext cx="588515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7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613091" y="5313929"/>
            <a:ext cx="588515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8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0613091" y="5975102"/>
            <a:ext cx="588515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9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613091" y="6636275"/>
            <a:ext cx="588515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10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613091" y="7297448"/>
            <a:ext cx="588515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11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613091" y="7958621"/>
            <a:ext cx="588515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12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499355" y="8617986"/>
            <a:ext cx="3759945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PRÓXIMOS PASSOS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614679" y="8617986"/>
            <a:ext cx="588515" cy="39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sz="2799" spc="-153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13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12992" y="9253537"/>
            <a:ext cx="12396242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3658144" y="1333087"/>
            <a:ext cx="19212305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462152" y="2924738"/>
            <a:ext cx="12245402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3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540018" y="0"/>
            <a:ext cx="7402830" cy="9253538"/>
          </a:xfrm>
          <a:custGeom>
            <a:avLst/>
            <a:gdLst/>
            <a:ahLst/>
            <a:cxnLst/>
            <a:rect r="r" b="b" t="t" l="l"/>
            <a:pathLst>
              <a:path h="9253538" w="7402830">
                <a:moveTo>
                  <a:pt x="0" y="0"/>
                </a:moveTo>
                <a:lnTo>
                  <a:pt x="7402830" y="0"/>
                </a:lnTo>
                <a:lnTo>
                  <a:pt x="7402830" y="9253538"/>
                </a:lnTo>
                <a:lnTo>
                  <a:pt x="0" y="925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793528" y="1796660"/>
            <a:ext cx="9269143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80"/>
              </a:lnSpc>
              <a:spcBef>
                <a:spcPct val="0"/>
              </a:spcBef>
            </a:pPr>
            <a:r>
              <a:rPr lang="en-US" sz="8000" spc="-176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DEBRIEFING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6352" y="9596713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SETEMBRO/26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93528" y="4105862"/>
            <a:ext cx="8988608" cy="274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749"/>
              </a:lnSpc>
              <a:spcBef>
                <a:spcPct val="0"/>
              </a:spcBef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O Gendai P</a:t>
            </a:r>
            <a:r>
              <a:rPr lang="en-US" b="true" sz="2499" spc="-137" strike="noStrike" u="none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remium é um restaurante japonês em Niterói com 25 anos de história, que chega ao momento atual com uma operação madura, processos consolidados, público fiel e uma identidade construída ao longo desses anos. </a:t>
            </a:r>
          </a:p>
          <a:p>
            <a:pPr algn="just" marL="0" indent="0" lvl="0">
              <a:lnSpc>
                <a:spcPts val="2749"/>
              </a:lnSpc>
              <a:spcBef>
                <a:spcPct val="0"/>
              </a:spcBef>
            </a:pPr>
          </a:p>
          <a:p>
            <a:pPr algn="just" marL="0" indent="0" lvl="0">
              <a:lnSpc>
                <a:spcPts val="2749"/>
              </a:lnSpc>
              <a:spcBef>
                <a:spcPct val="0"/>
              </a:spcBef>
            </a:pPr>
            <a:r>
              <a:rPr lang="en-US" b="true" sz="2499" spc="-137" strike="noStrike" u="none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Não se trata de uma empresa buscando validar produto, atendimento ou operação, o principal desafio está em transformar tudo o que já foi construído em percepção de marca e comunicação de valor.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12992" y="9253538"/>
            <a:ext cx="13828370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462152" y="1033462"/>
            <a:ext cx="1344187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447593" y="2924738"/>
            <a:ext cx="13427320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4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3085823" y="10138"/>
            <a:ext cx="5202177" cy="9243400"/>
          </a:xfrm>
          <a:custGeom>
            <a:avLst/>
            <a:gdLst/>
            <a:ahLst/>
            <a:cxnLst/>
            <a:rect r="r" b="b" t="t" l="l"/>
            <a:pathLst>
              <a:path h="9243400" w="5202177">
                <a:moveTo>
                  <a:pt x="0" y="0"/>
                </a:moveTo>
                <a:lnTo>
                  <a:pt x="5202177" y="0"/>
                </a:lnTo>
                <a:lnTo>
                  <a:pt x="5202177" y="9243400"/>
                </a:lnTo>
                <a:lnTo>
                  <a:pt x="0" y="92434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837988"/>
            <a:ext cx="11244708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80"/>
              </a:lnSpc>
              <a:spcBef>
                <a:spcPct val="0"/>
              </a:spcBef>
            </a:pPr>
            <a:r>
              <a:rPr lang="en-US" sz="8000" spc="-176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REDES SOCIAIS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3244" y="3415276"/>
            <a:ext cx="11495620" cy="514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749"/>
              </a:lnSpc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 comunicação nas redes busca explorar além da comida japonesa de qualidade. </a:t>
            </a:r>
          </a:p>
          <a:p>
            <a:pPr algn="just">
              <a:lnSpc>
                <a:spcPts val="2749"/>
              </a:lnSpc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Ela comunica tudo que o Gendai Premium conquistou ao longo da sua jornada e tudo que estar por vir:</a:t>
            </a:r>
          </a:p>
          <a:p>
            <a:pPr algn="just">
              <a:lnSpc>
                <a:spcPts val="2749"/>
              </a:lnSpc>
            </a:pP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25 anos de experiência e conhecimento acumulado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Rigor na escolha e manipulação dos produtos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Processos e boas práticas desenvolvidos ao longo dos anos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Conhecimento técnico sobre pescados e culinária japonesa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Operação estruturada e consistente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Público fiel construído organicamente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Baixíssimo nível de reclamações</a:t>
            </a:r>
          </a:p>
          <a:p>
            <a:pPr algn="just" marL="539749" indent="-269875" lvl="1">
              <a:lnSpc>
                <a:spcPts val="2749"/>
              </a:lnSpc>
              <a:buFont typeface="Arial"/>
              <a:buChar char="•"/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Confiança construída com clientes ao longo do tempo</a:t>
            </a:r>
          </a:p>
          <a:p>
            <a:pPr algn="just">
              <a:lnSpc>
                <a:spcPts val="2749"/>
              </a:lnSpc>
            </a:pPr>
          </a:p>
          <a:p>
            <a:pPr algn="just" marL="0" indent="0" lvl="0">
              <a:lnSpc>
                <a:spcPts val="2749"/>
              </a:lnSpc>
              <a:spcBef>
                <a:spcPct val="0"/>
              </a:spcBef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Como contar tudo isso de maneira que prenda a atenção dos nossos clientes e chame atenção dos novos clientes?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26352" y="9596713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SETEMBRO/26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12992" y="9253538"/>
            <a:ext cx="13828370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462152" y="1033462"/>
            <a:ext cx="1344187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447593" y="2924738"/>
            <a:ext cx="13427320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5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93528" y="3386701"/>
            <a:ext cx="4402207" cy="2218762"/>
            <a:chOff x="0" y="0"/>
            <a:chExt cx="1248363" cy="62918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248363" cy="629189"/>
            </a:xfrm>
            <a:custGeom>
              <a:avLst/>
              <a:gdLst/>
              <a:ahLst/>
              <a:cxnLst/>
              <a:rect r="r" b="b" t="t" l="l"/>
              <a:pathLst>
                <a:path h="629189" w="1248363">
                  <a:moveTo>
                    <a:pt x="89691" y="0"/>
                  </a:moveTo>
                  <a:lnTo>
                    <a:pt x="1158672" y="0"/>
                  </a:lnTo>
                  <a:cubicBezTo>
                    <a:pt x="1182459" y="0"/>
                    <a:pt x="1205272" y="9450"/>
                    <a:pt x="1222093" y="26270"/>
                  </a:cubicBezTo>
                  <a:cubicBezTo>
                    <a:pt x="1238913" y="43090"/>
                    <a:pt x="1248363" y="65903"/>
                    <a:pt x="1248363" y="89691"/>
                  </a:cubicBezTo>
                  <a:lnTo>
                    <a:pt x="1248363" y="539498"/>
                  </a:lnTo>
                  <a:cubicBezTo>
                    <a:pt x="1248363" y="589033"/>
                    <a:pt x="1208207" y="629189"/>
                    <a:pt x="1158672" y="629189"/>
                  </a:cubicBezTo>
                  <a:lnTo>
                    <a:pt x="89691" y="629189"/>
                  </a:lnTo>
                  <a:cubicBezTo>
                    <a:pt x="65903" y="629189"/>
                    <a:pt x="43090" y="619739"/>
                    <a:pt x="26270" y="602919"/>
                  </a:cubicBezTo>
                  <a:cubicBezTo>
                    <a:pt x="9450" y="586098"/>
                    <a:pt x="0" y="563285"/>
                    <a:pt x="0" y="539498"/>
                  </a:cubicBezTo>
                  <a:lnTo>
                    <a:pt x="0" y="89691"/>
                  </a:lnTo>
                  <a:cubicBezTo>
                    <a:pt x="0" y="65903"/>
                    <a:pt x="9450" y="43090"/>
                    <a:pt x="26270" y="26270"/>
                  </a:cubicBezTo>
                  <a:cubicBezTo>
                    <a:pt x="43090" y="9450"/>
                    <a:pt x="65903" y="0"/>
                    <a:pt x="89691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1248363" cy="6768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 spc="-5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INSTAGRAM</a:t>
              </a:r>
            </a:p>
            <a:p>
              <a:pPr algn="ctr">
                <a:lnSpc>
                  <a:spcPts val="1680"/>
                </a:lnSpc>
              </a:pPr>
              <a:r>
                <a:rPr lang="en-US" sz="1200" spc="-26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 </a:t>
              </a:r>
            </a:p>
            <a:p>
              <a:pPr algn="ctr">
                <a:lnSpc>
                  <a:spcPts val="3079"/>
                </a:lnSpc>
              </a:pPr>
              <a:r>
                <a:rPr lang="en-US" sz="2199" spc="-48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18,6 mil seguidores</a:t>
              </a:r>
            </a:p>
            <a:p>
              <a:pPr algn="ctr">
                <a:lnSpc>
                  <a:spcPts val="3079"/>
                </a:lnSpc>
              </a:pPr>
            </a:p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pc="-48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 1.315 publicações.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978238" y="3386701"/>
            <a:ext cx="4471238" cy="2346097"/>
            <a:chOff x="0" y="0"/>
            <a:chExt cx="1267938" cy="66529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67938" cy="665298"/>
            </a:xfrm>
            <a:custGeom>
              <a:avLst/>
              <a:gdLst/>
              <a:ahLst/>
              <a:cxnLst/>
              <a:rect r="r" b="b" t="t" l="l"/>
              <a:pathLst>
                <a:path h="665298" w="1267938">
                  <a:moveTo>
                    <a:pt x="88306" y="0"/>
                  </a:moveTo>
                  <a:lnTo>
                    <a:pt x="1179632" y="0"/>
                  </a:lnTo>
                  <a:cubicBezTo>
                    <a:pt x="1203052" y="0"/>
                    <a:pt x="1225513" y="9304"/>
                    <a:pt x="1242074" y="25864"/>
                  </a:cubicBezTo>
                  <a:cubicBezTo>
                    <a:pt x="1258634" y="42425"/>
                    <a:pt x="1267938" y="64886"/>
                    <a:pt x="1267938" y="88306"/>
                  </a:cubicBezTo>
                  <a:lnTo>
                    <a:pt x="1267938" y="576992"/>
                  </a:lnTo>
                  <a:cubicBezTo>
                    <a:pt x="1267938" y="600412"/>
                    <a:pt x="1258634" y="622873"/>
                    <a:pt x="1242074" y="639434"/>
                  </a:cubicBezTo>
                  <a:cubicBezTo>
                    <a:pt x="1225513" y="655994"/>
                    <a:pt x="1203052" y="665298"/>
                    <a:pt x="1179632" y="665298"/>
                  </a:cubicBezTo>
                  <a:lnTo>
                    <a:pt x="88306" y="665298"/>
                  </a:lnTo>
                  <a:cubicBezTo>
                    <a:pt x="64886" y="665298"/>
                    <a:pt x="42425" y="655994"/>
                    <a:pt x="25864" y="639434"/>
                  </a:cubicBezTo>
                  <a:cubicBezTo>
                    <a:pt x="9304" y="622873"/>
                    <a:pt x="0" y="600412"/>
                    <a:pt x="0" y="576992"/>
                  </a:cubicBezTo>
                  <a:lnTo>
                    <a:pt x="0" y="88306"/>
                  </a:lnTo>
                  <a:cubicBezTo>
                    <a:pt x="0" y="64886"/>
                    <a:pt x="9304" y="42425"/>
                    <a:pt x="25864" y="25864"/>
                  </a:cubicBezTo>
                  <a:cubicBezTo>
                    <a:pt x="42425" y="9304"/>
                    <a:pt x="64886" y="0"/>
                    <a:pt x="88306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1267938" cy="712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 spc="-5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INTERESSE </a:t>
              </a:r>
            </a:p>
            <a:p>
              <a:pPr algn="ctr">
                <a:lnSpc>
                  <a:spcPts val="1680"/>
                </a:lnSpc>
              </a:pPr>
            </a:p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pc="-48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 Refeições com família, amigos ou parceiros, interesse em novidades gastronômicas, alimentação fora de casa e ocasiões especiais.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93528" y="6159095"/>
            <a:ext cx="4402207" cy="2346097"/>
            <a:chOff x="0" y="0"/>
            <a:chExt cx="1248363" cy="66529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48363" cy="665298"/>
            </a:xfrm>
            <a:custGeom>
              <a:avLst/>
              <a:gdLst/>
              <a:ahLst/>
              <a:cxnLst/>
              <a:rect r="r" b="b" t="t" l="l"/>
              <a:pathLst>
                <a:path h="665298" w="1248363">
                  <a:moveTo>
                    <a:pt x="89691" y="0"/>
                  </a:moveTo>
                  <a:lnTo>
                    <a:pt x="1158672" y="0"/>
                  </a:lnTo>
                  <a:cubicBezTo>
                    <a:pt x="1182459" y="0"/>
                    <a:pt x="1205272" y="9450"/>
                    <a:pt x="1222093" y="26270"/>
                  </a:cubicBezTo>
                  <a:cubicBezTo>
                    <a:pt x="1238913" y="43090"/>
                    <a:pt x="1248363" y="65903"/>
                    <a:pt x="1248363" y="89691"/>
                  </a:cubicBezTo>
                  <a:lnTo>
                    <a:pt x="1248363" y="575607"/>
                  </a:lnTo>
                  <a:cubicBezTo>
                    <a:pt x="1248363" y="599395"/>
                    <a:pt x="1238913" y="622208"/>
                    <a:pt x="1222093" y="639028"/>
                  </a:cubicBezTo>
                  <a:cubicBezTo>
                    <a:pt x="1205272" y="655849"/>
                    <a:pt x="1182459" y="665298"/>
                    <a:pt x="1158672" y="665298"/>
                  </a:cubicBezTo>
                  <a:lnTo>
                    <a:pt x="89691" y="665298"/>
                  </a:lnTo>
                  <a:cubicBezTo>
                    <a:pt x="40156" y="665298"/>
                    <a:pt x="0" y="625142"/>
                    <a:pt x="0" y="575607"/>
                  </a:cubicBezTo>
                  <a:lnTo>
                    <a:pt x="0" y="89691"/>
                  </a:lnTo>
                  <a:cubicBezTo>
                    <a:pt x="0" y="65903"/>
                    <a:pt x="9450" y="43090"/>
                    <a:pt x="26270" y="26270"/>
                  </a:cubicBezTo>
                  <a:cubicBezTo>
                    <a:pt x="43090" y="9450"/>
                    <a:pt x="65903" y="0"/>
                    <a:pt x="89691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248363" cy="712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 spc="-5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ENGAJAMENTO</a:t>
              </a:r>
            </a:p>
            <a:p>
              <a:pPr algn="ctr">
                <a:lnSpc>
                  <a:spcPts val="1680"/>
                </a:lnSpc>
              </a:pPr>
            </a:p>
            <a:p>
              <a:pPr algn="ctr">
                <a:lnSpc>
                  <a:spcPts val="3079"/>
                </a:lnSpc>
              </a:pPr>
              <a:r>
                <a:rPr lang="en-US" sz="2199" spc="-48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 A taxa é de 2,55%, classificada como média. </a:t>
              </a:r>
            </a:p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pc="-48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30 curtidas, 5 comentários e 1,4 mil visualizações por publicação.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5978238" y="6189998"/>
            <a:ext cx="4471238" cy="2346097"/>
            <a:chOff x="0" y="0"/>
            <a:chExt cx="1267938" cy="66529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267938" cy="665298"/>
            </a:xfrm>
            <a:custGeom>
              <a:avLst/>
              <a:gdLst/>
              <a:ahLst/>
              <a:cxnLst/>
              <a:rect r="r" b="b" t="t" l="l"/>
              <a:pathLst>
                <a:path h="665298" w="1267938">
                  <a:moveTo>
                    <a:pt x="88306" y="0"/>
                  </a:moveTo>
                  <a:lnTo>
                    <a:pt x="1179632" y="0"/>
                  </a:lnTo>
                  <a:cubicBezTo>
                    <a:pt x="1203052" y="0"/>
                    <a:pt x="1225513" y="9304"/>
                    <a:pt x="1242074" y="25864"/>
                  </a:cubicBezTo>
                  <a:cubicBezTo>
                    <a:pt x="1258634" y="42425"/>
                    <a:pt x="1267938" y="64886"/>
                    <a:pt x="1267938" y="88306"/>
                  </a:cubicBezTo>
                  <a:lnTo>
                    <a:pt x="1267938" y="576992"/>
                  </a:lnTo>
                  <a:cubicBezTo>
                    <a:pt x="1267938" y="600412"/>
                    <a:pt x="1258634" y="622873"/>
                    <a:pt x="1242074" y="639434"/>
                  </a:cubicBezTo>
                  <a:cubicBezTo>
                    <a:pt x="1225513" y="655994"/>
                    <a:pt x="1203052" y="665298"/>
                    <a:pt x="1179632" y="665298"/>
                  </a:cubicBezTo>
                  <a:lnTo>
                    <a:pt x="88306" y="665298"/>
                  </a:lnTo>
                  <a:cubicBezTo>
                    <a:pt x="64886" y="665298"/>
                    <a:pt x="42425" y="655994"/>
                    <a:pt x="25864" y="639434"/>
                  </a:cubicBezTo>
                  <a:cubicBezTo>
                    <a:pt x="9304" y="622873"/>
                    <a:pt x="0" y="600412"/>
                    <a:pt x="0" y="576992"/>
                  </a:cubicBezTo>
                  <a:lnTo>
                    <a:pt x="0" y="88306"/>
                  </a:lnTo>
                  <a:cubicBezTo>
                    <a:pt x="0" y="64886"/>
                    <a:pt x="9304" y="42425"/>
                    <a:pt x="25864" y="25864"/>
                  </a:cubicBezTo>
                  <a:cubicBezTo>
                    <a:pt x="42425" y="9304"/>
                    <a:pt x="64886" y="0"/>
                    <a:pt x="88306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1267938" cy="71292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779"/>
                </a:lnSpc>
              </a:pPr>
              <a:r>
                <a:rPr lang="en-US" sz="2699" spc="-5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PUBLICAÇÕES</a:t>
              </a:r>
            </a:p>
            <a:p>
              <a:pPr algn="ctr">
                <a:lnSpc>
                  <a:spcPts val="1680"/>
                </a:lnSpc>
              </a:pPr>
            </a:p>
            <a:p>
              <a:pPr algn="ctr">
                <a:lnSpc>
                  <a:spcPts val="3079"/>
                </a:lnSpc>
              </a:pPr>
              <a:r>
                <a:rPr lang="en-US" sz="2199" spc="-48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  Média de 1 publicação por semana. </a:t>
              </a:r>
            </a:p>
            <a:p>
              <a:pPr algn="ctr" marL="0" indent="0" lvl="0">
                <a:lnSpc>
                  <a:spcPts val="3079"/>
                </a:lnSpc>
                <a:spcBef>
                  <a:spcPct val="0"/>
                </a:spcBef>
              </a:pPr>
              <a:r>
                <a:rPr lang="en-US" sz="2199" spc="-48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Comparado com perfis de tamanho semelhante, as visualizações no perfil do Gendai Premium estão acima.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2403031" y="0"/>
            <a:ext cx="7406640" cy="9258300"/>
          </a:xfrm>
          <a:custGeom>
            <a:avLst/>
            <a:gdLst/>
            <a:ahLst/>
            <a:cxnLst/>
            <a:rect r="r" b="b" t="t" l="l"/>
            <a:pathLst>
              <a:path h="9258300" w="7406640">
                <a:moveTo>
                  <a:pt x="0" y="0"/>
                </a:moveTo>
                <a:lnTo>
                  <a:pt x="7406640" y="0"/>
                </a:lnTo>
                <a:lnTo>
                  <a:pt x="740664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1837988"/>
            <a:ext cx="11244708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80"/>
              </a:lnSpc>
              <a:spcBef>
                <a:spcPct val="0"/>
              </a:spcBef>
            </a:pPr>
            <a:r>
              <a:rPr lang="en-US" sz="8000" spc="-176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REDES SOCIAIS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65031" y="9744075"/>
            <a:ext cx="11495620" cy="274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</a:p>
          <a:p>
            <a:pPr algn="l">
              <a:lnSpc>
                <a:spcPts val="2749"/>
              </a:lnSpc>
            </a:pPr>
          </a:p>
          <a:p>
            <a:pPr algn="l">
              <a:lnSpc>
                <a:spcPts val="2749"/>
              </a:lnSpc>
            </a:pPr>
          </a:p>
          <a:p>
            <a:pPr algn="l">
              <a:lnSpc>
                <a:spcPts val="2749"/>
              </a:lnSpc>
            </a:pPr>
          </a:p>
          <a:p>
            <a:pPr algn="l">
              <a:lnSpc>
                <a:spcPts val="2749"/>
              </a:lnSpc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 média é de aproximadamente 1 publicação por semana. </a:t>
            </a:r>
          </a:p>
          <a:p>
            <a:pPr algn="l">
              <a:lnSpc>
                <a:spcPts val="2749"/>
              </a:lnSpc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Comparado com perfis de tamanho semelhante, a</a:t>
            </a: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 visualizações no perfil do Gendai Premium estão acima.</a:t>
            </a:r>
          </a:p>
          <a:p>
            <a:pPr algn="l" marL="0" indent="0" lvl="0">
              <a:lnSpc>
                <a:spcPts val="2749"/>
              </a:lnSpc>
              <a:spcBef>
                <a:spcPct val="0"/>
              </a:spcBef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326352" y="9596713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SETEMBRO/26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12992" y="9253538"/>
            <a:ext cx="13828370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462152" y="1033462"/>
            <a:ext cx="1344187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447593" y="2924738"/>
            <a:ext cx="13427320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6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979726" y="0"/>
            <a:ext cx="7406640" cy="9258300"/>
          </a:xfrm>
          <a:custGeom>
            <a:avLst/>
            <a:gdLst/>
            <a:ahLst/>
            <a:cxnLst/>
            <a:rect r="r" b="b" t="t" l="l"/>
            <a:pathLst>
              <a:path h="9258300" w="7406640">
                <a:moveTo>
                  <a:pt x="0" y="0"/>
                </a:moveTo>
                <a:lnTo>
                  <a:pt x="7406640" y="0"/>
                </a:lnTo>
                <a:lnTo>
                  <a:pt x="740664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837988"/>
            <a:ext cx="11244708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80"/>
              </a:lnSpc>
              <a:spcBef>
                <a:spcPct val="0"/>
              </a:spcBef>
            </a:pPr>
            <a:r>
              <a:rPr lang="en-US" sz="8000" spc="-176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REDES SOCIAIS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3244" y="3415276"/>
            <a:ext cx="11495620" cy="5832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49"/>
              </a:lnSpc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Recentemente o perfil apresentou crescimento de 19,04%, considerado bom. </a:t>
            </a:r>
          </a:p>
          <a:p>
            <a:pPr algn="l">
              <a:lnSpc>
                <a:spcPts val="2749"/>
              </a:lnSpc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Nos últimos 14 dias, foram conquistados 77 seguidores e 4 publicações.</a:t>
            </a: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</a:t>
            </a:r>
          </a:p>
          <a:p>
            <a:pPr algn="l">
              <a:lnSpc>
                <a:spcPts val="2749"/>
              </a:lnSpc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Nos últimos 30 dias, o avanço foi de aproximadamente 173 seguidores e 9 </a:t>
            </a: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publicações, com média diária de 6 novos seguidores.</a:t>
            </a:r>
          </a:p>
          <a:p>
            <a:pPr algn="l">
              <a:lnSpc>
                <a:spcPts val="2749"/>
              </a:lnSpc>
            </a:pPr>
          </a:p>
          <a:p>
            <a:pPr algn="l">
              <a:lnSpc>
                <a:spcPts val="2749"/>
              </a:lnSpc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 faixa estimada de valor por publicação patrocinada está entre R$ 328 e R$ 873, com custo estimado de aproximadamente R$ 17,15 por interação.</a:t>
            </a:r>
          </a:p>
          <a:p>
            <a:pPr algn="l">
              <a:lnSpc>
                <a:spcPts val="2749"/>
              </a:lnSpc>
            </a:pPr>
          </a:p>
          <a:p>
            <a:pPr algn="l">
              <a:lnSpc>
                <a:spcPts val="2749"/>
              </a:lnSpc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O</a:t>
            </a: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Gendai Premium Niterói possui uma comunidade relevante, crescimento positivo e bom potencial de alcance local. </a:t>
            </a:r>
          </a:p>
          <a:p>
            <a:pPr algn="l">
              <a:lnSpc>
                <a:spcPts val="2749"/>
              </a:lnSpc>
            </a:pPr>
          </a:p>
          <a:p>
            <a:pPr algn="l">
              <a:lnSpc>
                <a:spcPts val="2749"/>
              </a:lnSpc>
            </a:pPr>
            <a:r>
              <a:rPr lang="en-US" sz="2499" spc="-13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As principais oportunidades estão em aumentar a frequência de conteúdo, estimular curtidas e comentários, fortalecer o relacionamento com a audiência e transformar o alcance digital em visitas, reservas e pedidos.</a:t>
            </a:r>
          </a:p>
          <a:p>
            <a:pPr algn="l">
              <a:lnSpc>
                <a:spcPts val="2749"/>
              </a:lnSpc>
            </a:pPr>
          </a:p>
          <a:p>
            <a:pPr algn="l">
              <a:lnSpc>
                <a:spcPts val="2749"/>
              </a:lnSpc>
            </a:pPr>
          </a:p>
          <a:p>
            <a:pPr algn="l" marL="0" indent="0" lvl="0">
              <a:lnSpc>
                <a:spcPts val="274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1326352" y="9596713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SETEMBRO/26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1EC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5430802" y="9253538"/>
            <a:ext cx="13257337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5430802" y="1033463"/>
            <a:ext cx="13257337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7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215245" y="2898782"/>
            <a:ext cx="3044611" cy="741616"/>
            <a:chOff x="0" y="0"/>
            <a:chExt cx="863380" cy="2103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3380" cy="210305"/>
            </a:xfrm>
            <a:custGeom>
              <a:avLst/>
              <a:gdLst/>
              <a:ahLst/>
              <a:cxnLst/>
              <a:rect r="r" b="b" t="t" l="l"/>
              <a:pathLst>
                <a:path h="210305" w="863380">
                  <a:moveTo>
                    <a:pt x="105153" y="0"/>
                  </a:moveTo>
                  <a:lnTo>
                    <a:pt x="758228" y="0"/>
                  </a:lnTo>
                  <a:cubicBezTo>
                    <a:pt x="786116" y="0"/>
                    <a:pt x="812862" y="11079"/>
                    <a:pt x="832582" y="30798"/>
                  </a:cubicBezTo>
                  <a:cubicBezTo>
                    <a:pt x="852302" y="50518"/>
                    <a:pt x="863380" y="77264"/>
                    <a:pt x="863380" y="105153"/>
                  </a:cubicBezTo>
                  <a:lnTo>
                    <a:pt x="863380" y="105153"/>
                  </a:lnTo>
                  <a:cubicBezTo>
                    <a:pt x="863380" y="133041"/>
                    <a:pt x="852302" y="159787"/>
                    <a:pt x="832582" y="179507"/>
                  </a:cubicBezTo>
                  <a:cubicBezTo>
                    <a:pt x="812862" y="199226"/>
                    <a:pt x="786116" y="210305"/>
                    <a:pt x="758228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863380" cy="257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sz="2699" spc="-5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FAMÍLIA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341860" y="2898782"/>
            <a:ext cx="3044611" cy="741616"/>
            <a:chOff x="0" y="0"/>
            <a:chExt cx="863380" cy="2103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3380" cy="210305"/>
            </a:xfrm>
            <a:custGeom>
              <a:avLst/>
              <a:gdLst/>
              <a:ahLst/>
              <a:cxnLst/>
              <a:rect r="r" b="b" t="t" l="l"/>
              <a:pathLst>
                <a:path h="210305" w="863380">
                  <a:moveTo>
                    <a:pt x="105153" y="0"/>
                  </a:moveTo>
                  <a:lnTo>
                    <a:pt x="758228" y="0"/>
                  </a:lnTo>
                  <a:cubicBezTo>
                    <a:pt x="786116" y="0"/>
                    <a:pt x="812862" y="11079"/>
                    <a:pt x="832582" y="30798"/>
                  </a:cubicBezTo>
                  <a:cubicBezTo>
                    <a:pt x="852302" y="50518"/>
                    <a:pt x="863380" y="77264"/>
                    <a:pt x="863380" y="105153"/>
                  </a:cubicBezTo>
                  <a:lnTo>
                    <a:pt x="863380" y="105153"/>
                  </a:lnTo>
                  <a:cubicBezTo>
                    <a:pt x="863380" y="133041"/>
                    <a:pt x="852302" y="159787"/>
                    <a:pt x="832582" y="179507"/>
                  </a:cubicBezTo>
                  <a:cubicBezTo>
                    <a:pt x="812862" y="199226"/>
                    <a:pt x="786116" y="210305"/>
                    <a:pt x="758228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863380" cy="257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sz="2699" spc="-5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CASAIS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215245" y="6622755"/>
            <a:ext cx="3044611" cy="741616"/>
            <a:chOff x="0" y="0"/>
            <a:chExt cx="863380" cy="2103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3380" cy="210305"/>
            </a:xfrm>
            <a:custGeom>
              <a:avLst/>
              <a:gdLst/>
              <a:ahLst/>
              <a:cxnLst/>
              <a:rect r="r" b="b" t="t" l="l"/>
              <a:pathLst>
                <a:path h="210305" w="863380">
                  <a:moveTo>
                    <a:pt x="105153" y="0"/>
                  </a:moveTo>
                  <a:lnTo>
                    <a:pt x="758228" y="0"/>
                  </a:lnTo>
                  <a:cubicBezTo>
                    <a:pt x="786116" y="0"/>
                    <a:pt x="812862" y="11079"/>
                    <a:pt x="832582" y="30798"/>
                  </a:cubicBezTo>
                  <a:cubicBezTo>
                    <a:pt x="852302" y="50518"/>
                    <a:pt x="863380" y="77264"/>
                    <a:pt x="863380" y="105153"/>
                  </a:cubicBezTo>
                  <a:lnTo>
                    <a:pt x="863380" y="105153"/>
                  </a:lnTo>
                  <a:cubicBezTo>
                    <a:pt x="863380" y="133041"/>
                    <a:pt x="852302" y="159787"/>
                    <a:pt x="832582" y="179507"/>
                  </a:cubicBezTo>
                  <a:cubicBezTo>
                    <a:pt x="812862" y="199226"/>
                    <a:pt x="786116" y="210305"/>
                    <a:pt x="758228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47625"/>
              <a:ext cx="863380" cy="257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sz="2699" spc="-5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AMIGOS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341860" y="6622755"/>
            <a:ext cx="3044611" cy="741616"/>
            <a:chOff x="0" y="0"/>
            <a:chExt cx="863380" cy="2103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3380" cy="210305"/>
            </a:xfrm>
            <a:custGeom>
              <a:avLst/>
              <a:gdLst/>
              <a:ahLst/>
              <a:cxnLst/>
              <a:rect r="r" b="b" t="t" l="l"/>
              <a:pathLst>
                <a:path h="210305" w="863380">
                  <a:moveTo>
                    <a:pt x="105153" y="0"/>
                  </a:moveTo>
                  <a:lnTo>
                    <a:pt x="758228" y="0"/>
                  </a:lnTo>
                  <a:cubicBezTo>
                    <a:pt x="786116" y="0"/>
                    <a:pt x="812862" y="11079"/>
                    <a:pt x="832582" y="30798"/>
                  </a:cubicBezTo>
                  <a:cubicBezTo>
                    <a:pt x="852302" y="50518"/>
                    <a:pt x="863380" y="77264"/>
                    <a:pt x="863380" y="105153"/>
                  </a:cubicBezTo>
                  <a:lnTo>
                    <a:pt x="863380" y="105153"/>
                  </a:lnTo>
                  <a:cubicBezTo>
                    <a:pt x="863380" y="133041"/>
                    <a:pt x="852302" y="159787"/>
                    <a:pt x="832582" y="179507"/>
                  </a:cubicBezTo>
                  <a:cubicBezTo>
                    <a:pt x="812862" y="199226"/>
                    <a:pt x="786116" y="210305"/>
                    <a:pt x="758228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863380" cy="257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sz="2699" spc="-5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JOVENS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4167521" y="2898782"/>
            <a:ext cx="3044611" cy="741616"/>
            <a:chOff x="0" y="0"/>
            <a:chExt cx="863380" cy="2103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3380" cy="210305"/>
            </a:xfrm>
            <a:custGeom>
              <a:avLst/>
              <a:gdLst/>
              <a:ahLst/>
              <a:cxnLst/>
              <a:rect r="r" b="b" t="t" l="l"/>
              <a:pathLst>
                <a:path h="210305" w="863380">
                  <a:moveTo>
                    <a:pt x="105153" y="0"/>
                  </a:moveTo>
                  <a:lnTo>
                    <a:pt x="758228" y="0"/>
                  </a:lnTo>
                  <a:cubicBezTo>
                    <a:pt x="786116" y="0"/>
                    <a:pt x="812862" y="11079"/>
                    <a:pt x="832582" y="30798"/>
                  </a:cubicBezTo>
                  <a:cubicBezTo>
                    <a:pt x="852302" y="50518"/>
                    <a:pt x="863380" y="77264"/>
                    <a:pt x="863380" y="105153"/>
                  </a:cubicBezTo>
                  <a:lnTo>
                    <a:pt x="863380" y="105153"/>
                  </a:lnTo>
                  <a:cubicBezTo>
                    <a:pt x="863380" y="133041"/>
                    <a:pt x="852302" y="159787"/>
                    <a:pt x="832582" y="179507"/>
                  </a:cubicBezTo>
                  <a:cubicBezTo>
                    <a:pt x="812862" y="199226"/>
                    <a:pt x="786116" y="210305"/>
                    <a:pt x="758228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863380" cy="2579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779"/>
                </a:lnSpc>
                <a:spcBef>
                  <a:spcPct val="0"/>
                </a:spcBef>
              </a:pPr>
              <a:r>
                <a:rPr lang="en-US" sz="2699" spc="-5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BUSINESS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-581913" y="0"/>
            <a:ext cx="6012715" cy="9258300"/>
          </a:xfrm>
          <a:custGeom>
            <a:avLst/>
            <a:gdLst/>
            <a:ahLst/>
            <a:cxnLst/>
            <a:rect r="r" b="b" t="t" l="l"/>
            <a:pathLst>
              <a:path h="9258300" w="6012715">
                <a:moveTo>
                  <a:pt x="0" y="0"/>
                </a:moveTo>
                <a:lnTo>
                  <a:pt x="6012715" y="0"/>
                </a:lnTo>
                <a:lnTo>
                  <a:pt x="6012715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23182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-1705934" y="0"/>
            <a:ext cx="7406640" cy="9258300"/>
          </a:xfrm>
          <a:custGeom>
            <a:avLst/>
            <a:gdLst/>
            <a:ahLst/>
            <a:cxnLst/>
            <a:rect r="r" b="b" t="t" l="l"/>
            <a:pathLst>
              <a:path h="9258300" w="7406640">
                <a:moveTo>
                  <a:pt x="0" y="0"/>
                </a:moveTo>
                <a:lnTo>
                  <a:pt x="7406640" y="0"/>
                </a:lnTo>
                <a:lnTo>
                  <a:pt x="7406640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6396220" y="1663310"/>
            <a:ext cx="10863080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080"/>
              </a:lnSpc>
              <a:spcBef>
                <a:spcPct val="0"/>
              </a:spcBef>
            </a:pPr>
            <a:r>
              <a:rPr lang="en-US" sz="8000" spc="-176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NOSSO PÚBLICO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326352" y="9596713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SETEMBRO/26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215245" y="3659449"/>
            <a:ext cx="3044611" cy="21748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Mome</a:t>
            </a:r>
            <a:r>
              <a:rPr lang="en-US" sz="25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ntos especiais, aniversários, reunião de família, crianças que criaram o hábito da comida japonesa.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41860" y="3688691"/>
            <a:ext cx="3044611" cy="173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Jantar româ</a:t>
            </a:r>
            <a:r>
              <a:rPr lang="en-US" sz="25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ntico, encontros, comemorações de namoro, casamento.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15245" y="7383421"/>
            <a:ext cx="3044611" cy="12985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cel</a:t>
            </a:r>
            <a:r>
              <a:rPr lang="en-US" sz="25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ebrações, encontros, drinks, saquê.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341860" y="7411996"/>
            <a:ext cx="3044611" cy="860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f</a:t>
            </a:r>
            <a:r>
              <a:rPr lang="en-US" sz="25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ilhos que agora são clientes.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167521" y="3688691"/>
            <a:ext cx="3044611" cy="1736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00"/>
              </a:lnSpc>
            </a:pPr>
            <a:r>
              <a:rPr lang="en-US" sz="25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Jantar e almoço de negócios, comemoração de empresas.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12992" y="9253538"/>
            <a:ext cx="19354515" cy="4762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-462152" y="1033462"/>
            <a:ext cx="20105664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-447593" y="2713654"/>
            <a:ext cx="19189116" cy="211084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8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6000134" y="3220882"/>
            <a:ext cx="6910517" cy="5502213"/>
          </a:xfrm>
          <a:custGeom>
            <a:avLst/>
            <a:gdLst/>
            <a:ahLst/>
            <a:cxnLst/>
            <a:rect r="r" b="b" t="t" l="l"/>
            <a:pathLst>
              <a:path h="5502213" w="6910517">
                <a:moveTo>
                  <a:pt x="0" y="0"/>
                </a:moveTo>
                <a:lnTo>
                  <a:pt x="6910517" y="0"/>
                </a:lnTo>
                <a:lnTo>
                  <a:pt x="6910517" y="5502213"/>
                </a:lnTo>
                <a:lnTo>
                  <a:pt x="0" y="5502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020" t="-19310" r="-539" b="-8243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028700" y="1837988"/>
            <a:ext cx="11244708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80"/>
              </a:lnSpc>
              <a:spcBef>
                <a:spcPct val="0"/>
              </a:spcBef>
            </a:pPr>
            <a:r>
              <a:rPr lang="en-US" sz="8000" spc="-176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NUVEM DE PALAVRAS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6352" y="9596713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SETEMBRO/26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1435" y="8657078"/>
            <a:ext cx="5395942" cy="262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090"/>
              </a:lnSpc>
              <a:spcBef>
                <a:spcPct val="0"/>
              </a:spcBef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Com base nas avaliações do Google Meu Negócio.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612992" y="9253537"/>
            <a:ext cx="19363144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-462152" y="1033462"/>
            <a:ext cx="19212305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377378" y="2924738"/>
            <a:ext cx="19127530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588889" y="3187328"/>
            <a:ext cx="3044611" cy="741616"/>
            <a:chOff x="0" y="0"/>
            <a:chExt cx="863380" cy="21030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3380" cy="210305"/>
            </a:xfrm>
            <a:custGeom>
              <a:avLst/>
              <a:gdLst/>
              <a:ahLst/>
              <a:cxnLst/>
              <a:rect r="r" b="b" t="t" l="l"/>
              <a:pathLst>
                <a:path h="210305" w="863380">
                  <a:moveTo>
                    <a:pt x="105153" y="0"/>
                  </a:moveTo>
                  <a:lnTo>
                    <a:pt x="758228" y="0"/>
                  </a:lnTo>
                  <a:cubicBezTo>
                    <a:pt x="786116" y="0"/>
                    <a:pt x="812862" y="11079"/>
                    <a:pt x="832582" y="30798"/>
                  </a:cubicBezTo>
                  <a:cubicBezTo>
                    <a:pt x="852302" y="50518"/>
                    <a:pt x="863380" y="77264"/>
                    <a:pt x="863380" y="105153"/>
                  </a:cubicBezTo>
                  <a:lnTo>
                    <a:pt x="863380" y="105153"/>
                  </a:lnTo>
                  <a:cubicBezTo>
                    <a:pt x="863380" y="133041"/>
                    <a:pt x="852302" y="159787"/>
                    <a:pt x="832582" y="179507"/>
                  </a:cubicBezTo>
                  <a:cubicBezTo>
                    <a:pt x="812862" y="199226"/>
                    <a:pt x="786116" y="210305"/>
                    <a:pt x="758228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863380" cy="248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-3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CONCORRENTES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9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870327" y="1837988"/>
            <a:ext cx="13466584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80"/>
              </a:lnSpc>
              <a:spcBef>
                <a:spcPct val="0"/>
              </a:spcBef>
            </a:pPr>
            <a:r>
              <a:rPr lang="en-US" sz="8000" spc="-176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NOSSOS CONCORRENTES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26352" y="9596713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SETEMBRO/26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5123264" y="3187328"/>
            <a:ext cx="3044611" cy="741616"/>
            <a:chOff x="0" y="0"/>
            <a:chExt cx="863380" cy="2103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63380" cy="210305"/>
            </a:xfrm>
            <a:custGeom>
              <a:avLst/>
              <a:gdLst/>
              <a:ahLst/>
              <a:cxnLst/>
              <a:rect r="r" b="b" t="t" l="l"/>
              <a:pathLst>
                <a:path h="210305" w="863380">
                  <a:moveTo>
                    <a:pt x="105153" y="0"/>
                  </a:moveTo>
                  <a:lnTo>
                    <a:pt x="758228" y="0"/>
                  </a:lnTo>
                  <a:cubicBezTo>
                    <a:pt x="786116" y="0"/>
                    <a:pt x="812862" y="11079"/>
                    <a:pt x="832582" y="30798"/>
                  </a:cubicBezTo>
                  <a:cubicBezTo>
                    <a:pt x="852302" y="50518"/>
                    <a:pt x="863380" y="77264"/>
                    <a:pt x="863380" y="105153"/>
                  </a:cubicBezTo>
                  <a:lnTo>
                    <a:pt x="863380" y="105153"/>
                  </a:lnTo>
                  <a:cubicBezTo>
                    <a:pt x="863380" y="133041"/>
                    <a:pt x="852302" y="159787"/>
                    <a:pt x="832582" y="179507"/>
                  </a:cubicBezTo>
                  <a:cubicBezTo>
                    <a:pt x="812862" y="199226"/>
                    <a:pt x="786116" y="210305"/>
                    <a:pt x="758228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863380" cy="248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-3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REDES SOCIAIS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038955" y="3187328"/>
            <a:ext cx="3044611" cy="741616"/>
            <a:chOff x="0" y="0"/>
            <a:chExt cx="863380" cy="2103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63380" cy="210305"/>
            </a:xfrm>
            <a:custGeom>
              <a:avLst/>
              <a:gdLst/>
              <a:ahLst/>
              <a:cxnLst/>
              <a:rect r="r" b="b" t="t" l="l"/>
              <a:pathLst>
                <a:path h="210305" w="863380">
                  <a:moveTo>
                    <a:pt x="105153" y="0"/>
                  </a:moveTo>
                  <a:lnTo>
                    <a:pt x="758228" y="0"/>
                  </a:lnTo>
                  <a:cubicBezTo>
                    <a:pt x="786116" y="0"/>
                    <a:pt x="812862" y="11079"/>
                    <a:pt x="832582" y="30798"/>
                  </a:cubicBezTo>
                  <a:cubicBezTo>
                    <a:pt x="852302" y="50518"/>
                    <a:pt x="863380" y="77264"/>
                    <a:pt x="863380" y="105153"/>
                  </a:cubicBezTo>
                  <a:lnTo>
                    <a:pt x="863380" y="105153"/>
                  </a:lnTo>
                  <a:cubicBezTo>
                    <a:pt x="863380" y="133041"/>
                    <a:pt x="852302" y="159787"/>
                    <a:pt x="832582" y="179507"/>
                  </a:cubicBezTo>
                  <a:cubicBezTo>
                    <a:pt x="812862" y="199226"/>
                    <a:pt x="786116" y="210305"/>
                    <a:pt x="758228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863380" cy="248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-3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POSICIONAMENTO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3218453" y="3187328"/>
            <a:ext cx="3044611" cy="741616"/>
            <a:chOff x="0" y="0"/>
            <a:chExt cx="863380" cy="2103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3380" cy="210305"/>
            </a:xfrm>
            <a:custGeom>
              <a:avLst/>
              <a:gdLst/>
              <a:ahLst/>
              <a:cxnLst/>
              <a:rect r="r" b="b" t="t" l="l"/>
              <a:pathLst>
                <a:path h="210305" w="863380">
                  <a:moveTo>
                    <a:pt x="105153" y="0"/>
                  </a:moveTo>
                  <a:lnTo>
                    <a:pt x="758228" y="0"/>
                  </a:lnTo>
                  <a:cubicBezTo>
                    <a:pt x="786116" y="0"/>
                    <a:pt x="812862" y="11079"/>
                    <a:pt x="832582" y="30798"/>
                  </a:cubicBezTo>
                  <a:cubicBezTo>
                    <a:pt x="852302" y="50518"/>
                    <a:pt x="863380" y="77264"/>
                    <a:pt x="863380" y="105153"/>
                  </a:cubicBezTo>
                  <a:lnTo>
                    <a:pt x="863380" y="105153"/>
                  </a:lnTo>
                  <a:cubicBezTo>
                    <a:pt x="863380" y="133041"/>
                    <a:pt x="852302" y="159787"/>
                    <a:pt x="832582" y="179507"/>
                  </a:cubicBezTo>
                  <a:cubicBezTo>
                    <a:pt x="812862" y="199226"/>
                    <a:pt x="786116" y="210305"/>
                    <a:pt x="758228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863380" cy="248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-3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FAIXA DE VALOR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540073" y="4492189"/>
            <a:ext cx="97259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b="true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YO! JAPA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53245" y="5459095"/>
            <a:ext cx="96619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SUNSAKI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550045" y="6389703"/>
            <a:ext cx="965448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GURUMÊ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090315" y="7367486"/>
            <a:ext cx="1892052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TEMAKERIA E CIA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983084" y="8347926"/>
            <a:ext cx="210651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  <a:spcBef>
                <a:spcPct val="0"/>
              </a:spcBef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JAPA DA QUITANDA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66483" y="4148019"/>
            <a:ext cx="3279782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C</a:t>
            </a:r>
            <a:r>
              <a:rPr lang="en-US" b="true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OMUNICAÇÃO MAIS 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PROMOCIONAL E POPULAR, COM </a:t>
            </a:r>
          </a:p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FORTE PRESENÇA DE PRODUTO, OFERTAS E DELIVERY.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123264" y="5312609"/>
            <a:ext cx="3044611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C</a:t>
            </a:r>
            <a:r>
              <a:rPr lang="en-US" b="true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ONTEÚDO FORTEMENTE APOIADO EM PRATOS, RODÍZIO, AMBIENTE E EXPERIÊNCIA PRESENCIAL.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044874" y="6268176"/>
            <a:ext cx="3201392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I</a:t>
            </a:r>
            <a:r>
              <a:rPr lang="en-US" b="true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DENTIDADE VISUAL SOFISTICADA, GASTRONOMIA MUITO VALORIZADA E BOA CONSTRUÇÃO DE MARCA.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005679" y="7308431"/>
            <a:ext cx="3201392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COMU</a:t>
            </a:r>
            <a:r>
              <a:rPr lang="en-US" b="true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NICAÇÃO BASTANTE FOCADA EM VARIEDADE, PRODUTO, RODÍZIO E ESTÍMULO AO CONSUMO.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044874" y="8178784"/>
            <a:ext cx="3201392" cy="98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COMU</a:t>
            </a:r>
            <a:r>
              <a:rPr lang="en-US" b="true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NICAÇÃO MAIS MODERNA, JOVEM E COMERCIAL, COM GRANDE VALORIZAÇÃO VISUAL DOS PRATOS E LANÇAMENTOS.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999760" y="4148019"/>
            <a:ext cx="3123001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C</a:t>
            </a:r>
            <a:r>
              <a:rPr lang="en-US" b="true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USTO-BENEFÍCIO E ACESSIBILIDADE, BUSCANDO VOLUME E FREQUÊNCIA DE CONSUMO.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740224" y="5257482"/>
            <a:ext cx="3720464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JAP</a:t>
            </a:r>
            <a:r>
              <a:rPr lang="en-US" b="true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ONÊS TRADICIONAL COM APELO PARA RODÍZIO + EXPERIÊNCIA + LOCALIZAÇÃO/VISTA DE SÃO FRANCISCO.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852866" y="6268176"/>
            <a:ext cx="3495180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J</a:t>
            </a:r>
            <a:r>
              <a:rPr lang="en-US" b="true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APONÊS CONTEMPORÂNEO/PREMIUM, COM PRATOS AUTORAIS, INGREDIENTES BRASILEIROS E EXPERIÊNCIA.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960565" y="7308431"/>
            <a:ext cx="3279782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RODÍZIO</a:t>
            </a:r>
            <a:r>
              <a:rPr lang="en-US" b="true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COM VARIEDADE E CUSTO-BENEFÍCIO, OCUPANDO UMA FAIXA INTERMEDIÁRIA DO MERCADO.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999760" y="8321659"/>
            <a:ext cx="3201392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RODÍZ</a:t>
            </a:r>
            <a:r>
              <a:rPr lang="en-US" b="true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IO PREMIUM COM LINGUAGEM JOVEM, VARIEDADE, CRIATIVIDADE E EXPERIÊNCIA DESCONTRAÍDA.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3297015" y="4148019"/>
            <a:ext cx="3123001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FA</a:t>
            </a:r>
            <a:r>
              <a:rPr lang="en-US" b="true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IXA DE CONSUMO EM TORNO DE R$120–160/PESSOA; A MARCA MANTÉM RODÍZIO ATIVO. 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032188" y="5257482"/>
            <a:ext cx="3553939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FAIX</a:t>
            </a:r>
            <a:r>
              <a:rPr lang="en-US" b="true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 DE CONSUMO APROXIMADA DE R$130–260/PESSOA. RODÍZIO DIVERSIFICADO.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3069915" y="6268176"/>
            <a:ext cx="3875932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NÃ</a:t>
            </a:r>
            <a:r>
              <a:rPr lang="en-US" b="true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O CONCENTRA SUA PROPOSTA EM RODÍZIO. ATUA FORTEMENTE NO À LA CARTE; CONSUMO PODE ULTRAPASSAR R$260/PESSOA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147649" y="7308431"/>
            <a:ext cx="3272367" cy="735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b="true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RODÍZIO EM APROXIMADAMENTE R$139–150, VARIANDO CONFORME DIA/UNIDADE.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297015" y="8321659"/>
            <a:ext cx="3201392" cy="488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R$169,90,</a:t>
            </a:r>
            <a:r>
              <a:rPr lang="en-US" b="true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 COM MAIS DE 78 OPÇÕES NO RODÍZIO ATUAL.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763280" y="9258300"/>
            <a:ext cx="1981455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-462152" y="1033462"/>
            <a:ext cx="19212305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462152" y="2924738"/>
            <a:ext cx="20261153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-913567" y="3815382"/>
            <a:ext cx="20115134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" id="6"/>
          <p:cNvSpPr/>
          <p:nvPr/>
        </p:nvSpPr>
        <p:spPr>
          <a:xfrm flipV="true">
            <a:off x="4574381" y="2922357"/>
            <a:ext cx="0" cy="6333562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 flipV="true">
            <a:off x="9144000" y="2922357"/>
            <a:ext cx="0" cy="6333562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V="true">
            <a:off x="13713619" y="2922357"/>
            <a:ext cx="0" cy="6333562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10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9144000" y="3816294"/>
            <a:ext cx="4572372" cy="5449759"/>
          </a:xfrm>
          <a:custGeom>
            <a:avLst/>
            <a:gdLst/>
            <a:ahLst/>
            <a:cxnLst/>
            <a:rect r="r" b="b" t="t" l="l"/>
            <a:pathLst>
              <a:path h="5449759" w="4572372">
                <a:moveTo>
                  <a:pt x="0" y="0"/>
                </a:moveTo>
                <a:lnTo>
                  <a:pt x="4572372" y="0"/>
                </a:lnTo>
                <a:lnTo>
                  <a:pt x="4572372" y="5449759"/>
                </a:lnTo>
                <a:lnTo>
                  <a:pt x="0" y="54497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150" t="0" r="0" b="-1366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3713619" y="3825819"/>
            <a:ext cx="4072014" cy="5409780"/>
          </a:xfrm>
          <a:custGeom>
            <a:avLst/>
            <a:gdLst/>
            <a:ahLst/>
            <a:cxnLst/>
            <a:rect r="r" b="b" t="t" l="l"/>
            <a:pathLst>
              <a:path h="5409780" w="4072014">
                <a:moveTo>
                  <a:pt x="0" y="0"/>
                </a:moveTo>
                <a:lnTo>
                  <a:pt x="4072014" y="0"/>
                </a:lnTo>
                <a:lnTo>
                  <a:pt x="4072014" y="5409780"/>
                </a:lnTo>
                <a:lnTo>
                  <a:pt x="0" y="5409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3360" b="-3812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93528" y="3825819"/>
            <a:ext cx="3803579" cy="5432481"/>
          </a:xfrm>
          <a:custGeom>
            <a:avLst/>
            <a:gdLst/>
            <a:ahLst/>
            <a:cxnLst/>
            <a:rect r="r" b="b" t="t" l="l"/>
            <a:pathLst>
              <a:path h="5432481" w="3803579">
                <a:moveTo>
                  <a:pt x="0" y="0"/>
                </a:moveTo>
                <a:lnTo>
                  <a:pt x="3803580" y="0"/>
                </a:lnTo>
                <a:lnTo>
                  <a:pt x="3803580" y="5432481"/>
                </a:lnTo>
                <a:lnTo>
                  <a:pt x="0" y="54324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2122" b="-657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4542287" y="3834269"/>
            <a:ext cx="4601713" cy="5431784"/>
          </a:xfrm>
          <a:custGeom>
            <a:avLst/>
            <a:gdLst/>
            <a:ahLst/>
            <a:cxnLst/>
            <a:rect r="r" b="b" t="t" l="l"/>
            <a:pathLst>
              <a:path h="5431784" w="4601713">
                <a:moveTo>
                  <a:pt x="0" y="0"/>
                </a:moveTo>
                <a:lnTo>
                  <a:pt x="4601713" y="0"/>
                </a:lnTo>
                <a:lnTo>
                  <a:pt x="4601713" y="5431784"/>
                </a:lnTo>
                <a:lnTo>
                  <a:pt x="0" y="54317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215" r="0" b="-9964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93528" y="1837988"/>
            <a:ext cx="11462781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80"/>
              </a:lnSpc>
              <a:spcBef>
                <a:spcPct val="0"/>
              </a:spcBef>
            </a:pPr>
            <a:r>
              <a:rPr lang="en-US" sz="8000" spc="-176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NOSSAS INSPIRAÇÕES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87131" y="3186676"/>
            <a:ext cx="279535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pc="-39">
                <a:solidFill>
                  <a:srgbClr val="403E3E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SUSHI LEBLON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26352" y="9596713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SETEMBRO/26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58055" y="3186676"/>
            <a:ext cx="279535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pc="-39">
                <a:solidFill>
                  <a:srgbClr val="403E3E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SUSHIGUEN SP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028980" y="3186676"/>
            <a:ext cx="279535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pc="-39">
                <a:solidFill>
                  <a:srgbClr val="403E3E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AIZOMÊ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599905" y="3186676"/>
            <a:ext cx="2795357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 spc="-39">
                <a:solidFill>
                  <a:srgbClr val="403E3E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SAKAGURA NY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833859" y="9606238"/>
            <a:ext cx="12951774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0"/>
              </a:lnSpc>
              <a:spcBef>
                <a:spcPct val="0"/>
              </a:spcBef>
            </a:pPr>
            <a:r>
              <a:rPr lang="en-US" sz="1400" spc="-77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TRADIÇÃO COMO ATIVO DA MARCA. HISTÓRIA REAL POR TRÁS DOS RESTAURANTES. BASTIDORES, TÉCNICA E HOSPITALIDADE. EXPERIÊNCIA ALÉM DO PRATO.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986221" y="9357971"/>
            <a:ext cx="19274221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-462152" y="1033462"/>
            <a:ext cx="19212305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564148" y="3537829"/>
            <a:ext cx="3628783" cy="741616"/>
            <a:chOff x="0" y="0"/>
            <a:chExt cx="1029037" cy="21030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29037" cy="210305"/>
            </a:xfrm>
            <a:custGeom>
              <a:avLst/>
              <a:gdLst/>
              <a:ahLst/>
              <a:cxnLst/>
              <a:rect r="r" b="b" t="t" l="l"/>
              <a:pathLst>
                <a:path h="210305" w="1029037">
                  <a:moveTo>
                    <a:pt x="105153" y="0"/>
                  </a:moveTo>
                  <a:lnTo>
                    <a:pt x="923885" y="0"/>
                  </a:lnTo>
                  <a:cubicBezTo>
                    <a:pt x="951773" y="0"/>
                    <a:pt x="978519" y="11079"/>
                    <a:pt x="998239" y="30798"/>
                  </a:cubicBezTo>
                  <a:cubicBezTo>
                    <a:pt x="1017959" y="50518"/>
                    <a:pt x="1029037" y="77264"/>
                    <a:pt x="1029037" y="105153"/>
                  </a:cubicBezTo>
                  <a:lnTo>
                    <a:pt x="1029037" y="105153"/>
                  </a:lnTo>
                  <a:cubicBezTo>
                    <a:pt x="1029037" y="133041"/>
                    <a:pt x="1017959" y="159787"/>
                    <a:pt x="998239" y="179507"/>
                  </a:cubicBezTo>
                  <a:cubicBezTo>
                    <a:pt x="978519" y="199226"/>
                    <a:pt x="951773" y="210305"/>
                    <a:pt x="923885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029037" cy="248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-3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POR TRÁS DO GENDAI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64148" y="4408124"/>
            <a:ext cx="3628783" cy="741616"/>
            <a:chOff x="0" y="0"/>
            <a:chExt cx="1029037" cy="21030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29037" cy="210305"/>
            </a:xfrm>
            <a:custGeom>
              <a:avLst/>
              <a:gdLst/>
              <a:ahLst/>
              <a:cxnLst/>
              <a:rect r="r" b="b" t="t" l="l"/>
              <a:pathLst>
                <a:path h="210305" w="1029037">
                  <a:moveTo>
                    <a:pt x="105153" y="0"/>
                  </a:moveTo>
                  <a:lnTo>
                    <a:pt x="923885" y="0"/>
                  </a:lnTo>
                  <a:cubicBezTo>
                    <a:pt x="951773" y="0"/>
                    <a:pt x="978519" y="11079"/>
                    <a:pt x="998239" y="30798"/>
                  </a:cubicBezTo>
                  <a:cubicBezTo>
                    <a:pt x="1017959" y="50518"/>
                    <a:pt x="1029037" y="77264"/>
                    <a:pt x="1029037" y="105153"/>
                  </a:cubicBezTo>
                  <a:lnTo>
                    <a:pt x="1029037" y="105153"/>
                  </a:lnTo>
                  <a:cubicBezTo>
                    <a:pt x="1029037" y="133041"/>
                    <a:pt x="1017959" y="159787"/>
                    <a:pt x="998239" y="179507"/>
                  </a:cubicBezTo>
                  <a:cubicBezTo>
                    <a:pt x="978519" y="199226"/>
                    <a:pt x="951773" y="210305"/>
                    <a:pt x="923885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029037" cy="248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-3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CULTURA E GASTRONOMIA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564148" y="5278420"/>
            <a:ext cx="3628783" cy="741616"/>
            <a:chOff x="0" y="0"/>
            <a:chExt cx="1029037" cy="2103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29037" cy="210305"/>
            </a:xfrm>
            <a:custGeom>
              <a:avLst/>
              <a:gdLst/>
              <a:ahLst/>
              <a:cxnLst/>
              <a:rect r="r" b="b" t="t" l="l"/>
              <a:pathLst>
                <a:path h="210305" w="1029037">
                  <a:moveTo>
                    <a:pt x="105153" y="0"/>
                  </a:moveTo>
                  <a:lnTo>
                    <a:pt x="923885" y="0"/>
                  </a:lnTo>
                  <a:cubicBezTo>
                    <a:pt x="951773" y="0"/>
                    <a:pt x="978519" y="11079"/>
                    <a:pt x="998239" y="30798"/>
                  </a:cubicBezTo>
                  <a:cubicBezTo>
                    <a:pt x="1017959" y="50518"/>
                    <a:pt x="1029037" y="77264"/>
                    <a:pt x="1029037" y="105153"/>
                  </a:cubicBezTo>
                  <a:lnTo>
                    <a:pt x="1029037" y="105153"/>
                  </a:lnTo>
                  <a:cubicBezTo>
                    <a:pt x="1029037" y="133041"/>
                    <a:pt x="1017959" y="159787"/>
                    <a:pt x="998239" y="179507"/>
                  </a:cubicBezTo>
                  <a:cubicBezTo>
                    <a:pt x="978519" y="199226"/>
                    <a:pt x="951773" y="210305"/>
                    <a:pt x="923885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29037" cy="248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-3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25 ANOS DE HISTÓRIA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564148" y="6148715"/>
            <a:ext cx="3628783" cy="741616"/>
            <a:chOff x="0" y="0"/>
            <a:chExt cx="1029037" cy="21030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029037" cy="210305"/>
            </a:xfrm>
            <a:custGeom>
              <a:avLst/>
              <a:gdLst/>
              <a:ahLst/>
              <a:cxnLst/>
              <a:rect r="r" b="b" t="t" l="l"/>
              <a:pathLst>
                <a:path h="210305" w="1029037">
                  <a:moveTo>
                    <a:pt x="105153" y="0"/>
                  </a:moveTo>
                  <a:lnTo>
                    <a:pt x="923885" y="0"/>
                  </a:lnTo>
                  <a:cubicBezTo>
                    <a:pt x="951773" y="0"/>
                    <a:pt x="978519" y="11079"/>
                    <a:pt x="998239" y="30798"/>
                  </a:cubicBezTo>
                  <a:cubicBezTo>
                    <a:pt x="1017959" y="50518"/>
                    <a:pt x="1029037" y="77264"/>
                    <a:pt x="1029037" y="105153"/>
                  </a:cubicBezTo>
                  <a:lnTo>
                    <a:pt x="1029037" y="105153"/>
                  </a:lnTo>
                  <a:cubicBezTo>
                    <a:pt x="1029037" y="133041"/>
                    <a:pt x="1017959" y="159787"/>
                    <a:pt x="998239" y="179507"/>
                  </a:cubicBezTo>
                  <a:cubicBezTo>
                    <a:pt x="978519" y="199226"/>
                    <a:pt x="951773" y="210305"/>
                    <a:pt x="923885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029037" cy="248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-3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EXPERIÊNCIA GENDAI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564148" y="7019010"/>
            <a:ext cx="3628783" cy="741616"/>
            <a:chOff x="0" y="0"/>
            <a:chExt cx="1029037" cy="210305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29037" cy="210305"/>
            </a:xfrm>
            <a:custGeom>
              <a:avLst/>
              <a:gdLst/>
              <a:ahLst/>
              <a:cxnLst/>
              <a:rect r="r" b="b" t="t" l="l"/>
              <a:pathLst>
                <a:path h="210305" w="1029037">
                  <a:moveTo>
                    <a:pt x="105153" y="0"/>
                  </a:moveTo>
                  <a:lnTo>
                    <a:pt x="923885" y="0"/>
                  </a:lnTo>
                  <a:cubicBezTo>
                    <a:pt x="951773" y="0"/>
                    <a:pt x="978519" y="11079"/>
                    <a:pt x="998239" y="30798"/>
                  </a:cubicBezTo>
                  <a:cubicBezTo>
                    <a:pt x="1017959" y="50518"/>
                    <a:pt x="1029037" y="77264"/>
                    <a:pt x="1029037" y="105153"/>
                  </a:cubicBezTo>
                  <a:lnTo>
                    <a:pt x="1029037" y="105153"/>
                  </a:lnTo>
                  <a:cubicBezTo>
                    <a:pt x="1029037" y="133041"/>
                    <a:pt x="1017959" y="159787"/>
                    <a:pt x="998239" y="179507"/>
                  </a:cubicBezTo>
                  <a:cubicBezTo>
                    <a:pt x="978519" y="199226"/>
                    <a:pt x="951773" y="210305"/>
                    <a:pt x="923885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029037" cy="248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-3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CURIOSIDADES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64148" y="7889305"/>
            <a:ext cx="3628783" cy="741616"/>
            <a:chOff x="0" y="0"/>
            <a:chExt cx="1029037" cy="21030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29037" cy="210305"/>
            </a:xfrm>
            <a:custGeom>
              <a:avLst/>
              <a:gdLst/>
              <a:ahLst/>
              <a:cxnLst/>
              <a:rect r="r" b="b" t="t" l="l"/>
              <a:pathLst>
                <a:path h="210305" w="1029037">
                  <a:moveTo>
                    <a:pt x="105153" y="0"/>
                  </a:moveTo>
                  <a:lnTo>
                    <a:pt x="923885" y="0"/>
                  </a:lnTo>
                  <a:cubicBezTo>
                    <a:pt x="951773" y="0"/>
                    <a:pt x="978519" y="11079"/>
                    <a:pt x="998239" y="30798"/>
                  </a:cubicBezTo>
                  <a:cubicBezTo>
                    <a:pt x="1017959" y="50518"/>
                    <a:pt x="1029037" y="77264"/>
                    <a:pt x="1029037" y="105153"/>
                  </a:cubicBezTo>
                  <a:lnTo>
                    <a:pt x="1029037" y="105153"/>
                  </a:lnTo>
                  <a:cubicBezTo>
                    <a:pt x="1029037" y="133041"/>
                    <a:pt x="1017959" y="159787"/>
                    <a:pt x="998239" y="179507"/>
                  </a:cubicBezTo>
                  <a:cubicBezTo>
                    <a:pt x="978519" y="199226"/>
                    <a:pt x="951773" y="210305"/>
                    <a:pt x="923885" y="210305"/>
                  </a:cubicBezTo>
                  <a:lnTo>
                    <a:pt x="105153" y="210305"/>
                  </a:lnTo>
                  <a:cubicBezTo>
                    <a:pt x="77264" y="210305"/>
                    <a:pt x="50518" y="199226"/>
                    <a:pt x="30798" y="179507"/>
                  </a:cubicBezTo>
                  <a:cubicBezTo>
                    <a:pt x="11079" y="159787"/>
                    <a:pt x="0" y="133041"/>
                    <a:pt x="0" y="105153"/>
                  </a:cubicBezTo>
                  <a:lnTo>
                    <a:pt x="0" y="105153"/>
                  </a:lnTo>
                  <a:cubicBezTo>
                    <a:pt x="0" y="77264"/>
                    <a:pt x="11079" y="50518"/>
                    <a:pt x="30798" y="30798"/>
                  </a:cubicBezTo>
                  <a:cubicBezTo>
                    <a:pt x="50518" y="11079"/>
                    <a:pt x="77264" y="0"/>
                    <a:pt x="105153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29037" cy="2484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sz="1800" spc="-39">
                  <a:solidFill>
                    <a:srgbClr val="403E3E"/>
                  </a:solidFill>
                  <a:latin typeface="Arial Nova Light"/>
                  <a:ea typeface="Arial Nova Light"/>
                  <a:cs typeface="Arial Nova Light"/>
                  <a:sym typeface="Arial Nova Light"/>
                </a:rPr>
                <a:t>GENDAI ACONTECENDO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4192931" y="3908637"/>
            <a:ext cx="1354141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3" id="23"/>
          <p:cNvSpPr/>
          <p:nvPr/>
        </p:nvSpPr>
        <p:spPr>
          <a:xfrm>
            <a:off x="4192931" y="4774170"/>
            <a:ext cx="1354141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4" id="24"/>
          <p:cNvSpPr/>
          <p:nvPr/>
        </p:nvSpPr>
        <p:spPr>
          <a:xfrm>
            <a:off x="4192931" y="5644465"/>
            <a:ext cx="1354141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5" id="25"/>
          <p:cNvSpPr/>
          <p:nvPr/>
        </p:nvSpPr>
        <p:spPr>
          <a:xfrm>
            <a:off x="4192931" y="6514761"/>
            <a:ext cx="1354141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6" id="26"/>
          <p:cNvSpPr/>
          <p:nvPr/>
        </p:nvSpPr>
        <p:spPr>
          <a:xfrm>
            <a:off x="4192931" y="7385056"/>
            <a:ext cx="1354141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27" id="27"/>
          <p:cNvSpPr/>
          <p:nvPr/>
        </p:nvSpPr>
        <p:spPr>
          <a:xfrm>
            <a:off x="4192931" y="8255351"/>
            <a:ext cx="1354141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oval" len="lg" w="lg"/>
          </a:ln>
        </p:spPr>
      </p:sp>
      <p:grpSp>
        <p:nvGrpSpPr>
          <p:cNvPr name="Group 28" id="28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11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5082616" y="1910960"/>
            <a:ext cx="12592594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080"/>
              </a:lnSpc>
              <a:spcBef>
                <a:spcPct val="0"/>
              </a:spcBef>
            </a:pPr>
            <a:r>
              <a:rPr lang="en-US" sz="8000" spc="-176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EDITORIAL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26352" y="9596713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SETEMBRO/26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628146" y="3658417"/>
            <a:ext cx="2697079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Demo</a:t>
            </a: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nstrar conhecimento e autoridade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628146" y="4490700"/>
            <a:ext cx="2697079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Educ</a:t>
            </a: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ar sem ser professoral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5628146" y="5332422"/>
            <a:ext cx="2697079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Construi</a:t>
            </a: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r marca e conexão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656626" y="6323309"/>
            <a:ext cx="2697079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Ge</a:t>
            </a: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rar desejo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628146" y="6824510"/>
            <a:ext cx="2697079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T</a:t>
            </a: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ransformar conhecimento técnico em conteúdo leve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5628146" y="7935312"/>
            <a:ext cx="2697079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Ge</a:t>
            </a: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rar movimento comercial</a:t>
            </a:r>
          </a:p>
        </p:txBody>
      </p:sp>
      <p:sp>
        <p:nvSpPr>
          <p:cNvPr name="AutoShape 39" id="39"/>
          <p:cNvSpPr/>
          <p:nvPr/>
        </p:nvSpPr>
        <p:spPr>
          <a:xfrm flipV="true">
            <a:off x="8429905" y="3908637"/>
            <a:ext cx="803277" cy="4763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40" id="40"/>
          <p:cNvSpPr/>
          <p:nvPr/>
        </p:nvSpPr>
        <p:spPr>
          <a:xfrm flipV="true">
            <a:off x="7340990" y="4774170"/>
            <a:ext cx="1892191" cy="9525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41" id="41"/>
          <p:cNvSpPr/>
          <p:nvPr/>
        </p:nvSpPr>
        <p:spPr>
          <a:xfrm>
            <a:off x="7626628" y="5661987"/>
            <a:ext cx="1468441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42" id="42"/>
          <p:cNvSpPr/>
          <p:nvPr/>
        </p:nvSpPr>
        <p:spPr>
          <a:xfrm>
            <a:off x="7090052" y="6524286"/>
            <a:ext cx="2005017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43" id="43"/>
          <p:cNvSpPr/>
          <p:nvPr/>
        </p:nvSpPr>
        <p:spPr>
          <a:xfrm>
            <a:off x="8296667" y="7380293"/>
            <a:ext cx="798402" cy="4763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44" id="44"/>
          <p:cNvSpPr/>
          <p:nvPr/>
        </p:nvSpPr>
        <p:spPr>
          <a:xfrm>
            <a:off x="7488516" y="8250589"/>
            <a:ext cx="1606553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45" id="45"/>
          <p:cNvSpPr txBox="true"/>
          <p:nvPr/>
        </p:nvSpPr>
        <p:spPr>
          <a:xfrm rot="0">
            <a:off x="9592286" y="3421910"/>
            <a:ext cx="3468937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Recebime</a:t>
            </a: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nto do peixe, armazenamento, manipulação, fornecedores, critérios de escolha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592286" y="4466101"/>
            <a:ext cx="3421808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Co</a:t>
            </a: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rtes, técnicas, saquê, ingredientes, costumes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592286" y="5314901"/>
            <a:ext cx="3136170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Histórias marcantes na voz de clientes, donos e funcionários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9592286" y="6110615"/>
            <a:ext cx="3924938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Festival, à la c</a:t>
            </a: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arte, drinks, ambiente, atendimento, hospitalidade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9592286" y="7060254"/>
            <a:ext cx="3924938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#PergunteAoGendai - dúvidas reais dos clientes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9592286" y="8005133"/>
            <a:ext cx="3664567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P</a:t>
            </a: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assaporte, ações, novidades, delivery e estímulo em horários estratégicos</a:t>
            </a:r>
          </a:p>
        </p:txBody>
      </p:sp>
      <p:sp>
        <p:nvSpPr>
          <p:cNvPr name="AutoShape 51" id="51"/>
          <p:cNvSpPr/>
          <p:nvPr/>
        </p:nvSpPr>
        <p:spPr>
          <a:xfrm>
            <a:off x="-407475" y="2912323"/>
            <a:ext cx="19212305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>
            <a:off x="12855214" y="3903875"/>
            <a:ext cx="1206438" cy="9525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53" id="53"/>
          <p:cNvSpPr/>
          <p:nvPr/>
        </p:nvSpPr>
        <p:spPr>
          <a:xfrm>
            <a:off x="12169490" y="4769408"/>
            <a:ext cx="1636725" cy="4762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54" id="54"/>
          <p:cNvSpPr/>
          <p:nvPr/>
        </p:nvSpPr>
        <p:spPr>
          <a:xfrm flipV="true">
            <a:off x="12783003" y="5661987"/>
            <a:ext cx="1152795" cy="4763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55" id="55"/>
          <p:cNvSpPr/>
          <p:nvPr/>
        </p:nvSpPr>
        <p:spPr>
          <a:xfrm flipV="true">
            <a:off x="12855214" y="8264876"/>
            <a:ext cx="1032374" cy="4763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AutoShape 56" id="56"/>
          <p:cNvSpPr/>
          <p:nvPr/>
        </p:nvSpPr>
        <p:spPr>
          <a:xfrm>
            <a:off x="13089709" y="7540313"/>
            <a:ext cx="79787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57" id="57"/>
          <p:cNvSpPr txBox="true"/>
          <p:nvPr/>
        </p:nvSpPr>
        <p:spPr>
          <a:xfrm rot="0">
            <a:off x="14166465" y="3344092"/>
            <a:ext cx="3592025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Vídeos e Fotos dos fornecedores, depoimentos, análise dos insumos pelo sushiman, nutricionista.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4128356" y="4439843"/>
            <a:ext cx="3814493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Carrossel com dicas para aproveitar ao máximo seu momento Gendai.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128356" y="5314901"/>
            <a:ext cx="3592025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Podcast no Gendai com conversas e histórias dos 25 anos. 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4166465" y="6140139"/>
            <a:ext cx="3890591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Fotos e vídeos de alta qualidade para tornar aquele post em um desejo de ir ao Gendai ou pedir no delivery.</a:t>
            </a:r>
          </a:p>
        </p:txBody>
      </p:sp>
      <p:sp>
        <p:nvSpPr>
          <p:cNvPr name="AutoShape 61" id="61"/>
          <p:cNvSpPr/>
          <p:nvPr/>
        </p:nvSpPr>
        <p:spPr>
          <a:xfrm>
            <a:off x="13008336" y="6594006"/>
            <a:ext cx="797879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oval" len="lg" w="lg"/>
          </a:ln>
        </p:spPr>
      </p:sp>
      <p:sp>
        <p:nvSpPr>
          <p:cNvPr name="TextBox 62" id="62"/>
          <p:cNvSpPr txBox="true"/>
          <p:nvPr/>
        </p:nvSpPr>
        <p:spPr>
          <a:xfrm rot="0">
            <a:off x="14166465" y="7161218"/>
            <a:ext cx="3890591" cy="935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Abrimos a caixa de perguntas e algum funcionário vai responder em formato de vídeo.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4166465" y="8182297"/>
            <a:ext cx="3890591" cy="621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Conteúdo estático ou vídeos para divulgar as ações do Gendai.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5732826" y="2943756"/>
            <a:ext cx="2697079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PAPEL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592286" y="2943756"/>
            <a:ext cx="2697079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ASSUNTO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4128356" y="2943756"/>
            <a:ext cx="2697079" cy="306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FORMATO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986221" y="9357971"/>
            <a:ext cx="19274221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-462152" y="1033462"/>
            <a:ext cx="19212305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12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-407475" y="2912323"/>
            <a:ext cx="19212305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8" id="8">
            <a:hlinkClick action="ppaction://media"/>
          </p:cNvPr>
          <p:cNvPicPr>
            <a:picLocks noChangeAspect="true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2"/>
          <a:srcRect l="0" t="0" r="0" b="0"/>
          <a:stretch>
            <a:fillRect/>
          </a:stretch>
        </p:blipFill>
        <p:spPr>
          <a:xfrm flipH="false" flipV="false" rot="0">
            <a:off x="522482" y="1033462"/>
            <a:ext cx="13350028" cy="7509391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5082616" y="1910960"/>
            <a:ext cx="12592594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080"/>
              </a:lnSpc>
              <a:spcBef>
                <a:spcPct val="0"/>
              </a:spcBef>
            </a:pPr>
            <a:r>
              <a:rPr lang="en-US" sz="8000" spc="-176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LAYOUT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6352" y="9596713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SETEMBRO/26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936364" y="3252051"/>
            <a:ext cx="3592025" cy="34499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8" indent="-194314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Feed sofisticado e consistente</a:t>
            </a:r>
          </a:p>
          <a:p>
            <a:pPr algn="l" marL="388628" indent="-194314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Imagens e vídeos de alta qualidade. </a:t>
            </a:r>
          </a:p>
          <a:p>
            <a:pPr algn="l" marL="388628" indent="-194314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Capas para os vídeos que mantenham a unidade de Feed.</a:t>
            </a:r>
          </a:p>
          <a:p>
            <a:pPr algn="l" marL="388628" indent="-194314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Nova marca e novos ícones para os destaques.</a:t>
            </a:r>
          </a:p>
          <a:p>
            <a:pPr algn="l" marL="388628" indent="-194314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Informações úteis nos destaques e na Bio.</a:t>
            </a:r>
          </a:p>
          <a:p>
            <a:pPr algn="l" marL="388628" indent="-194314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Personalização do LinkTree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986221" y="9357971"/>
            <a:ext cx="19274221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-462152" y="1033462"/>
            <a:ext cx="19212305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13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-407475" y="2912323"/>
            <a:ext cx="19212305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821613" y="1889019"/>
            <a:ext cx="12592594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6080"/>
              </a:lnSpc>
              <a:spcBef>
                <a:spcPct val="0"/>
              </a:spcBef>
            </a:pPr>
            <a:r>
              <a:rPr lang="en-US" sz="8000" spc="-176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PRÓXIMOS PASSOS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6352" y="9596713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SETEMBRO/26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3383810"/>
            <a:ext cx="14084633" cy="124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8628" indent="-194314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Conhecer todo o espaço da loja Piratininga</a:t>
            </a:r>
          </a:p>
          <a:p>
            <a:pPr algn="l" marL="388628" indent="-194314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Reunião de briefing para definir parcerias para Podcast</a:t>
            </a:r>
          </a:p>
          <a:p>
            <a:pPr algn="l" marL="388628" indent="-194314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Agendar primeira captação</a:t>
            </a:r>
          </a:p>
          <a:p>
            <a:pPr algn="l" marL="388628" indent="-194314" lvl="1">
              <a:lnSpc>
                <a:spcPts val="2520"/>
              </a:lnSpc>
              <a:buFont typeface="Arial"/>
              <a:buChar char="•"/>
            </a:pPr>
            <a:r>
              <a:rPr lang="en-US" sz="1800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Iniciar as primeiras postagens a partir de 01 de outubro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AFA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986221" y="9357971"/>
            <a:ext cx="19274221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-462152" y="1033462"/>
            <a:ext cx="19212305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251435" y="9507110"/>
            <a:ext cx="542093" cy="540520"/>
            <a:chOff x="0" y="0"/>
            <a:chExt cx="174424" cy="1739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74424" cy="173917"/>
            </a:xfrm>
            <a:custGeom>
              <a:avLst/>
              <a:gdLst/>
              <a:ahLst/>
              <a:cxnLst/>
              <a:rect r="r" b="b" t="t" l="l"/>
              <a:pathLst>
                <a:path h="173917" w="174424">
                  <a:moveTo>
                    <a:pt x="86959" y="0"/>
                  </a:moveTo>
                  <a:lnTo>
                    <a:pt x="87465" y="0"/>
                  </a:lnTo>
                  <a:cubicBezTo>
                    <a:pt x="110528" y="0"/>
                    <a:pt x="132646" y="9162"/>
                    <a:pt x="148954" y="25470"/>
                  </a:cubicBezTo>
                  <a:cubicBezTo>
                    <a:pt x="165262" y="41778"/>
                    <a:pt x="174424" y="63896"/>
                    <a:pt x="174424" y="86959"/>
                  </a:cubicBezTo>
                  <a:lnTo>
                    <a:pt x="174424" y="86959"/>
                  </a:lnTo>
                  <a:cubicBezTo>
                    <a:pt x="174424" y="134985"/>
                    <a:pt x="135491" y="173917"/>
                    <a:pt x="87465" y="173917"/>
                  </a:cubicBezTo>
                  <a:lnTo>
                    <a:pt x="86959" y="173917"/>
                  </a:lnTo>
                  <a:cubicBezTo>
                    <a:pt x="38933" y="173917"/>
                    <a:pt x="0" y="134985"/>
                    <a:pt x="0" y="86959"/>
                  </a:cubicBezTo>
                  <a:lnTo>
                    <a:pt x="0" y="86959"/>
                  </a:lnTo>
                  <a:cubicBezTo>
                    <a:pt x="0" y="38933"/>
                    <a:pt x="38933" y="0"/>
                    <a:pt x="86959" y="0"/>
                  </a:cubicBezTo>
                  <a:close/>
                </a:path>
              </a:pathLst>
            </a:custGeom>
            <a:ln w="9525" cap="rnd">
              <a:solidFill>
                <a:srgbClr val="403E3E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74424" cy="21201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 marL="0" indent="0" lvl="0">
                <a:lnSpc>
                  <a:spcPts val="2660"/>
                </a:lnSpc>
                <a:spcBef>
                  <a:spcPct val="0"/>
                </a:spcBef>
              </a:pPr>
              <a:r>
                <a:rPr lang="en-US" sz="1900" spc="-104">
                  <a:solidFill>
                    <a:srgbClr val="403E3E"/>
                  </a:solidFill>
                  <a:latin typeface="Mukti"/>
                  <a:ea typeface="Mukti"/>
                  <a:cs typeface="Mukti"/>
                  <a:sym typeface="Mukti"/>
                </a:rPr>
                <a:t>13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-407475" y="2912323"/>
            <a:ext cx="19212305" cy="0"/>
          </a:xfrm>
          <a:prstGeom prst="line">
            <a:avLst/>
          </a:prstGeom>
          <a:ln cap="flat" w="9525">
            <a:solidFill>
              <a:srgbClr val="403E3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2847703" y="5486400"/>
            <a:ext cx="12592594" cy="875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80"/>
              </a:lnSpc>
              <a:spcBef>
                <a:spcPct val="0"/>
              </a:spcBef>
            </a:pPr>
            <a:r>
              <a:rPr lang="en-US" sz="8000" spc="-176">
                <a:solidFill>
                  <a:srgbClr val="403E3E"/>
                </a:solidFill>
                <a:latin typeface="Arial Nova Light"/>
                <a:ea typeface="Arial Nova Light"/>
                <a:cs typeface="Arial Nova Light"/>
                <a:sym typeface="Arial Nova Light"/>
              </a:rPr>
              <a:t>OBRIGADA!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26352" y="9596713"/>
            <a:ext cx="4237173" cy="323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sz="1900" spc="-104">
                <a:solidFill>
                  <a:srgbClr val="403E3E"/>
                </a:solidFill>
                <a:latin typeface="Mukti"/>
                <a:ea typeface="Mukti"/>
                <a:cs typeface="Mukti"/>
                <a:sym typeface="Mukti"/>
              </a:rPr>
              <a:t>SETEMBRO/26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DAHWOvyNdt4</dc:identifier>
  <dcterms:modified xsi:type="dcterms:W3CDTF">2011-08-01T06:04:30Z</dcterms:modified>
  <cp:revision>1</cp:revision>
  <dc:title>Cópia de Gendai - Planejamento Criativo</dc:title>
</cp:coreProperties>
</file>